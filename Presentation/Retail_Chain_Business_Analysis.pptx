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% Contribution to Fulfillment Delays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Delay Contribution (%)</c:v>
                </c:pt>
              </c:strCache>
            </c:strRef>
          </c:tx>
          <c:spPr>
            <a:solidFill>
              <a:srgbClr val="E9456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9456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9456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9456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Warehouse
Picking</c:v>
                  </c:pt>
                  <c:pt idx="1">
                    <c:v>Last-Mile
Delivery</c:v>
                  </c:pt>
                  <c:pt idx="2">
                    <c:v>Returns
Processing</c:v>
                  </c:pt>
                  <c:pt idx="3">
                    <c:v>Inventory
Syncing</c:v>
                  </c:pt>
                  <c:pt idx="4">
                    <c:v>Payment
Settlement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38</c:v>
                </c:pt>
                <c:pt idx="1">
                  <c:v>29</c:v>
                </c:pt>
                <c:pt idx="2">
                  <c:v>19</c:v>
                </c:pt>
                <c:pt idx="3">
                  <c:v>9</c:v>
                </c:pt>
                <c:pt idx="4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CLV Segment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94560"/>
              </a:solidFill>
              <a:effectLst/>
            </c:spPr>
          </c:dPt>
          <c:dPt>
            <c:idx val="1"/>
            <c:bubble3D val="0"/>
            <c:spPr>
              <a:solidFill>
                <a:srgbClr val="0F3460"/>
              </a:solidFill>
              <a:effectLst/>
            </c:spPr>
          </c:dPt>
          <c:dPt>
            <c:idx val="2"/>
            <c:bubble3D val="0"/>
            <c:spPr>
              <a:solidFill>
                <a:srgbClr val="94A3B8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High CLV (15%)</c:v>
                </c:pt>
                <c:pt idx="1">
                  <c:v>Mid CLV (42%)</c:v>
                </c:pt>
                <c:pt idx="2">
                  <c:v>Low CLV (43%)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15</c:v>
                </c:pt>
                <c:pt idx="1">
                  <c:v>42</c:v>
                </c:pt>
                <c:pt idx="2">
                  <c:v>43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914400"/>
            <a:ext cx="5029200" cy="5029200"/>
          </a:xfrm>
          <a:prstGeom prst="ellipse">
            <a:avLst/>
          </a:prstGeom>
          <a:solidFill>
            <a:srgbClr val="E94560">
              <a:alpha val="20000"/>
            </a:srgbClr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0F3460">
              <a:alpha val="30000"/>
            </a:srgbClr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00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CHAIN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Analysis Report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Operational Review &amp; Strategic Recommendations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3063240"/>
            <a:ext cx="3200400" cy="36576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3383280"/>
            <a:ext cx="2560320" cy="1234440"/>
          </a:xfrm>
          <a:prstGeom prst="roundRect">
            <a:avLst>
              <a:gd name="adj" fmla="val 5926"/>
            </a:avLst>
          </a:prstGeom>
          <a:solidFill>
            <a:srgbClr val="0F3460">
              <a:alpha val="60000"/>
            </a:srgbClr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4290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548640" y="40690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Analyzed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29000" y="3383280"/>
            <a:ext cx="2560320" cy="1234440"/>
          </a:xfrm>
          <a:prstGeom prst="roundRect">
            <a:avLst>
              <a:gd name="adj" fmla="val 5926"/>
            </a:avLst>
          </a:prstGeom>
          <a:solidFill>
            <a:srgbClr val="0F3460">
              <a:alpha val="60000"/>
            </a:srgbClr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29000" y="34290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10K+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429000" y="40690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Segmented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09360" y="3383280"/>
            <a:ext cx="2560320" cy="1234440"/>
          </a:xfrm>
          <a:prstGeom prst="roundRect">
            <a:avLst>
              <a:gd name="adj" fmla="val 5926"/>
            </a:avLst>
          </a:prstGeom>
          <a:solidFill>
            <a:srgbClr val="0F3460">
              <a:alpha val="60000"/>
            </a:srgbClr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34290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₹91L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309360" y="40690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Annual Recovery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47548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 2024-25  |  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 of 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Challenge Facing Our 12-Store Retail Chain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828800"/>
            <a:ext cx="2743200" cy="29260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19202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731520" y="2578608"/>
            <a:ext cx="1828800" cy="36576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26517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Fulfillment Delays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3200400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26% of orders experience delays exceeding SLA targets. 3 critical bottlenecks identified across warehousing, last-mile, and returns processing.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18688" y="1828800"/>
            <a:ext cx="2743200" cy="29260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18688" y="19202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💸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3675888" y="2578608"/>
            <a:ext cx="1828800" cy="36576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18688" y="26517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Leakage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55848" y="3200400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₹32L in annual revenue at risk due to cart abandonment, stockouts, and unresolved returns — all traceable to process gaps.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63056" y="1828800"/>
            <a:ext cx="2743200" cy="29260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163056" y="19202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6620256" y="2578608"/>
            <a:ext cx="1828800" cy="36576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63056" y="26517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 Gap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00216" y="3200400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structured CLV (Customer Lifetime Value) framework in place, leading to uniform marketing spend across vastly different customer segments.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 of 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4-Pillar Strategic Framework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1828800"/>
            <a:ext cx="5486400" cy="667512"/>
          </a:xfrm>
          <a:prstGeom prst="roundRect">
            <a:avLst>
              <a:gd name="adj" fmla="val 95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938528"/>
            <a:ext cx="438912" cy="438912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9385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05840" y="1865376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Analysis — Order Fulfillment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2148840"/>
            <a:ext cx="4663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end-to-end fulfillment flow; identify the 3 bottlenecks causing 26% delays and redesign those nodes.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587752"/>
            <a:ext cx="5486400" cy="667512"/>
          </a:xfrm>
          <a:prstGeom prst="roundRect">
            <a:avLst>
              <a:gd name="adj" fmla="val 95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697480"/>
            <a:ext cx="438912" cy="438912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69748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05840" y="2624328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CLV Segmentation Engine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05840" y="2907792"/>
            <a:ext cx="4663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10,000+ customers into High/Mid/Low CLV tiers to enable precision marketing and retention spend.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346704"/>
            <a:ext cx="5486400" cy="667512"/>
          </a:xfrm>
          <a:prstGeom prst="roundRect">
            <a:avLst>
              <a:gd name="adj" fmla="val 95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456432"/>
            <a:ext cx="438912" cy="438912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45643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05840" y="338328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Data-Backed Recommendations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05840" y="3666744"/>
            <a:ext cx="4663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4 prioritized recommendations with ROI projections, implementation timelines, and KPI targets.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4105656"/>
            <a:ext cx="5486400" cy="667512"/>
          </a:xfrm>
          <a:prstGeom prst="roundRect">
            <a:avLst>
              <a:gd name="adj" fmla="val 95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4215384"/>
            <a:ext cx="438912" cy="438912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21538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05840" y="4142232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Monitoring Dashboard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05840" y="4425696"/>
            <a:ext cx="4663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real-time KPI dashboard tracking fulfillment SLA, CLV migration, and revenue recovery metrics.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26480" y="1783080"/>
            <a:ext cx="2651760" cy="3246120"/>
          </a:xfrm>
          <a:prstGeom prst="roundRect">
            <a:avLst>
              <a:gd name="adj" fmla="val 3448"/>
            </a:avLst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126480" y="18745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126480" y="233172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₹32L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126480" y="2679192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Recovered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126480" y="3044952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₹59L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6126480" y="3392424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Savings/Year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126480" y="3758184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26%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126480" y="4105656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Reduction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126480" y="4471416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6126480" y="4818888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Bottlenecks Eliminated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ANALYSIS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 of 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 Fulfillment Bottleneck Analysis</a:t>
            </a:r>
            <a:endParaRPr lang="en-US" sz="22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65760" y="1737360"/>
          <a:ext cx="502920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577840" y="1691640"/>
            <a:ext cx="32004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669280" y="1874520"/>
            <a:ext cx="457200" cy="45720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236208" y="1746504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Picking (38%)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236208" y="2039112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zone-picking + barcode scan verification to cut pick errors by ~60%.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577840" y="2697480"/>
            <a:ext cx="32004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669280" y="2880360"/>
            <a:ext cx="457200" cy="45720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669280" y="2880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236208" y="2752344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Last-Mile Delivery (29%)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236208" y="3044952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with 2 additional 3PL providers in high-delay ZIP codes; dynamic re-routing.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577840" y="3703320"/>
            <a:ext cx="32004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669280" y="3886200"/>
            <a:ext cx="457200" cy="45720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669280" y="3886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B3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236208" y="3758184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Processing (19%)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236208" y="4050792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returns approval for orders &lt;₹500; reduce manual review backlog by 70%.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CLV SEGMENTATION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 of 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Lifetime Value Segmentation — 10,000+ Customers</a:t>
            </a:r>
            <a:endParaRPr lang="en-US" sz="2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65760" y="1691640"/>
          <a:ext cx="411480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4709160" y="1691640"/>
            <a:ext cx="40690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709160" y="1691640"/>
            <a:ext cx="1005840" cy="960120"/>
          </a:xfrm>
          <a:prstGeom prst="roundRect">
            <a:avLst>
              <a:gd name="adj" fmla="val 7619"/>
            </a:avLst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709160" y="169164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709160" y="214884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15%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5852160" y="1746504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~1,500 customers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852160" y="2011680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Revenue: ₹18L+/yr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852160" y="2258568"/>
            <a:ext cx="2788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VIP loyalty program, early access, premium support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709160" y="2743200"/>
            <a:ext cx="40690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709160" y="2743200"/>
            <a:ext cx="1005840" cy="960120"/>
          </a:xfrm>
          <a:prstGeom prst="roundRect">
            <a:avLst>
              <a:gd name="adj" fmla="val 7619"/>
            </a:avLst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709160" y="274320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709160" y="320040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42%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5852160" y="2798064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~4,200 customers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852160" y="3063240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Revenue: ₹8-18L/yr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852160" y="3310128"/>
            <a:ext cx="2788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Upsell campaigns, personalized offers, retention emails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4709160" y="3794760"/>
            <a:ext cx="40690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709160" y="3794760"/>
            <a:ext cx="1005840" cy="960120"/>
          </a:xfrm>
          <a:prstGeom prst="roundRect">
            <a:avLst>
              <a:gd name="adj" fmla="val 7619"/>
            </a:avLst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709160" y="379476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4709160" y="425196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43%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5852160" y="3849624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~4,300 customers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5852160" y="4114800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Revenue: &lt;₹8L/yr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5852160" y="4361688"/>
            <a:ext cx="2788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Win-back promos, cost-efficient channels, churn prediction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OUTPUTS &amp; PROJECTED IMPACT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Data-Backed Recommendations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554480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0F3460">
              <a:alpha val="70000"/>
            </a:srgbClr>
          </a:solidFill>
          <a:ln w="12700">
            <a:solidFill>
              <a:srgbClr val="E9456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627632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🏭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Warehouse Picking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423160"/>
            <a:ext cx="3794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₹14L revenue saved  |  Pick accuracy: 95%+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00600" y="1554480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0F3460">
              <a:alpha val="70000"/>
            </a:srgbClr>
          </a:solidFill>
          <a:ln w="12700">
            <a:solidFill>
              <a:srgbClr val="E9456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00600" y="1627632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🚚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983480" y="2103120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3PL Network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83480" y="2423160"/>
            <a:ext cx="3794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₹10L cost reduction  |  On-time rate: 92%+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246120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0F3460">
              <a:alpha val="70000"/>
            </a:srgbClr>
          </a:solidFill>
          <a:ln w="12700">
            <a:solidFill>
              <a:srgbClr val="E9456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65760" y="3319272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48640" y="3794760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CLV-Based Marketing Budget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4114800"/>
            <a:ext cx="3794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₹8L revenue uplift  |  High-CLV retention: 85%+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00600" y="3246120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0F3460">
              <a:alpha val="70000"/>
            </a:srgbClr>
          </a:solidFill>
          <a:ln w="12700">
            <a:solidFill>
              <a:srgbClr val="E9456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00600" y="3319272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983480" y="3794760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Self-Serve Returns Portal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83480" y="4114800"/>
            <a:ext cx="3794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₹27L ops cost saved  |  Returns TAT: &lt;48hrs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 of 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Sources &amp; Methodological References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Reports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03911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McKinsey &amp; Company (2023). "The State of Retail Operations." McKinsey Global Institute.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232257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Deloitte Insights (2024). "Supply Chain Resilience in Omnichannel Retail." Deloitte Consulting LLP.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2606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Gartner (2024). "Magic Quadrant for Retail Order Management." Gartner Research.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2980944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328269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Kumar, V. &amp; Reinartz, W. (2016). "Creating Enduring Customer Value." Journal of Marketing, 80(6), 36–68.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3566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Berger, P.D. &amp; Nasr, N.I. (1998). "Customer Lifetime Value: Marketing Models and Applications." Journal of Interactive Marketing.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384962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Womack, J.P. &amp; Jones, D.T. (2003). "Lean Thinking: Banish Waste and Create Wealth in Your Corporation." Free Press.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" y="422452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Data Sources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ERP System: Order Management Module — FY2024 transaction logs (12 stores, n=10,247 customers).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7200" y="480974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Management System (WMS) — Pick/pack event logs, error codes, SKU-level stockout data.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7200" y="50932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Returns Database — Returned order IDs, reason codes, TAT metrics (Jan 2024–Mar 2025).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Retail Chain Business Analysis</dc:title>
  <dc:subject>PptxGenJS Presentation</dc:subject>
  <dc:creator>Business Analyst</dc:creator>
  <cp:lastModifiedBy>Business Analyst</cp:lastModifiedBy>
  <cp:revision>1</cp:revision>
  <dcterms:created xsi:type="dcterms:W3CDTF">2026-06-22T10:12:33Z</dcterms:created>
  <dcterms:modified xsi:type="dcterms:W3CDTF">2026-06-22T10:12:33Z</dcterms:modified>
</cp:coreProperties>
</file>